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32.png"/><Relationship Id="rId15" Type="http://schemas.openxmlformats.org/officeDocument/2006/relationships/image" Target="../media/image3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43.png"/><Relationship Id="rId13" Type="http://schemas.openxmlformats.org/officeDocument/2006/relationships/image" Target="../media/image44.png"/><Relationship Id="rId14" Type="http://schemas.openxmlformats.org/officeDocument/2006/relationships/image" Target="../media/image45.png"/><Relationship Id="rId15" Type="http://schemas.openxmlformats.org/officeDocument/2006/relationships/image" Target="../media/image4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3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2" Type="http://schemas.openxmlformats.org/officeDocument/2006/relationships/image" Target="../media/image63.png"/><Relationship Id="rId13" Type="http://schemas.openxmlformats.org/officeDocument/2006/relationships/image" Target="../media/image3.png"/><Relationship Id="rId14" Type="http://schemas.openxmlformats.org/officeDocument/2006/relationships/image" Target="../media/image6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3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Relationship Id="rId9" Type="http://schemas.openxmlformats.org/officeDocument/2006/relationships/image" Target="../media/image70.png"/><Relationship Id="rId10" Type="http://schemas.openxmlformats.org/officeDocument/2006/relationships/image" Target="../media/image7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3.png"/><Relationship Id="rId8" Type="http://schemas.openxmlformats.org/officeDocument/2006/relationships/image" Target="../media/image76.png"/><Relationship Id="rId9" Type="http://schemas.openxmlformats.org/officeDocument/2006/relationships/image" Target="../media/image7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image" Target="../media/image3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Relationship Id="rId9" Type="http://schemas.openxmlformats.org/officeDocument/2006/relationships/image" Target="../media/image84.png"/><Relationship Id="rId10" Type="http://schemas.openxmlformats.org/officeDocument/2006/relationships/image" Target="../media/image85.png"/><Relationship Id="rId11" Type="http://schemas.openxmlformats.org/officeDocument/2006/relationships/image" Target="../media/image86.png"/><Relationship Id="rId12" Type="http://schemas.openxmlformats.org/officeDocument/2006/relationships/image" Target="../media/image87.png"/><Relationship Id="rId13" Type="http://schemas.openxmlformats.org/officeDocument/2006/relationships/image" Target="../media/image8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image" Target="../media/image3.png"/><Relationship Id="rId9" Type="http://schemas.openxmlformats.org/officeDocument/2006/relationships/image" Target="../media/image14.png"/><Relationship Id="rId10" Type="http://schemas.openxmlformats.org/officeDocument/2006/relationships/image" Target="../media/image94.png"/><Relationship Id="rId11" Type="http://schemas.openxmlformats.org/officeDocument/2006/relationships/image" Target="../media/image95.png"/><Relationship Id="rId12" Type="http://schemas.openxmlformats.org/officeDocument/2006/relationships/image" Target="../media/image96.png"/><Relationship Id="rId13" Type="http://schemas.openxmlformats.org/officeDocument/2006/relationships/image" Target="../media/image97.png"/><Relationship Id="rId14" Type="http://schemas.openxmlformats.org/officeDocument/2006/relationships/image" Target="../media/image29.png"/><Relationship Id="rId15" Type="http://schemas.openxmlformats.org/officeDocument/2006/relationships/image" Target="../media/image98.png"/><Relationship Id="rId16" Type="http://schemas.openxmlformats.org/officeDocument/2006/relationships/image" Target="../media/image99.png"/><Relationship Id="rId17" Type="http://schemas.openxmlformats.org/officeDocument/2006/relationships/image" Target="../media/image100.png"/><Relationship Id="rId18" Type="http://schemas.openxmlformats.org/officeDocument/2006/relationships/image" Target="../media/image101.png"/><Relationship Id="rId19" Type="http://schemas.openxmlformats.org/officeDocument/2006/relationships/image" Target="../media/image102.png"/><Relationship Id="rId20" Type="http://schemas.openxmlformats.org/officeDocument/2006/relationships/image" Target="../media/image103.png"/><Relationship Id="rId21" Type="http://schemas.openxmlformats.org/officeDocument/2006/relationships/image" Target="../media/image10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537" y="2525017"/>
            <a:ext cx="2828925" cy="333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6343650"/>
            <a:ext cx="1102995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70771" y="3096517"/>
            <a:ext cx="3650456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b="0" sz="4800" i="0" u="none">
                <a:solidFill>
                  <a:srgbClr val="FFFFFF"/>
                </a:solidFill>
                <a:latin typeface="Plus Jakarta Sans ExtraBold"/>
              </a:rPr>
              <a:t>RiskPulse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38425" y="4018508"/>
            <a:ext cx="69151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AI-Powered Corporate Credit Risk Intelligence &amp; Early Warning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6467475"/>
            <a:ext cx="18669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RiskPulse AI Platform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01225" y="6467475"/>
            <a:ext cx="18097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Automated Early Warning System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1562" y="2625030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75978"/>
            <a:ext cx="5372100" cy="378038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875978"/>
            <a:ext cx="5372100" cy="378038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6343650"/>
            <a:ext cx="1102995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5" y="558105"/>
            <a:ext cx="962025" cy="2437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6467475"/>
            <a:ext cx="657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RiskPulse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9025" y="6467475"/>
            <a:ext cx="361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9675" y="2171253"/>
            <a:ext cx="4670583" cy="251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79"/>
              </a:lnSpc>
            </a:pPr>
            <a:r>
              <a:rPr b="1" sz="1650" i="0" u="none">
                <a:solidFill>
                  <a:srgbClr val="38BDF8"/>
                </a:solidFill>
                <a:latin typeface="Plus Jakarta Sans"/>
              </a:rPr>
              <a:t>Current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6100" y="2171253"/>
            <a:ext cx="4640580" cy="251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79"/>
              </a:lnSpc>
            </a:pPr>
            <a:r>
              <a:rPr b="1" sz="1650" i="0" u="none">
                <a:solidFill>
                  <a:srgbClr val="38BDF8"/>
                </a:solidFill>
                <a:latin typeface="Plus Jakarta Sans"/>
              </a:rPr>
              <a:t>RiskPulse AI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2613124"/>
            <a:ext cx="4752975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F1F5F9"/>
                </a:solidFill>
                <a:latin typeface="Inter"/>
              </a:rPr>
              <a:t>Automates the entire credit monitoring pipeline end-to-end: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75" y="2192089"/>
            <a:ext cx="2095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71575" y="2613124"/>
            <a:ext cx="44862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F1F5F9"/>
                </a:solidFill>
                <a:latin typeface="Inter"/>
              </a:rPr>
              <a:t>Manual Process: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Analysts manually search, read, and verify news article by article.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1575" y="3264396"/>
            <a:ext cx="44862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F1F5F9"/>
                </a:solidFill>
                <a:latin typeface="Inter"/>
              </a:rPr>
              <a:t>Time-Consuming: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Identifying material risks from hundreds of articles is slow and error-prone.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1575" y="3915667"/>
            <a:ext cx="44862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F1F5F9"/>
                </a:solidFill>
                <a:latin typeface="Inter"/>
              </a:rPr>
              <a:t>Delayed Detection: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Critical risk signals may be missed entirely or flagged too late to 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1575" y="4566939"/>
            <a:ext cx="44862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F1F5F9"/>
                </a:solidFill>
                <a:latin typeface="Inter"/>
              </a:rPr>
              <a:t>Inconsistent: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Human judgment varies across analysts, teams, and time under pressure.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2192089"/>
            <a:ext cx="238125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29425" y="3014960"/>
            <a:ext cx="44862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F1F5F9"/>
                </a:solidFill>
                <a:latin typeface="Inter"/>
              </a:rPr>
              <a:t>Automated News Retrieval: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Multi-source targeted ingestion.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9425" y="3666232"/>
            <a:ext cx="4486275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F1F5F9"/>
                </a:solidFill>
                <a:latin typeface="Inter"/>
              </a:rPr>
              <a:t>NLP &amp; LLM Analysis: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Expert credit auditor context parsing.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9425" y="4058542"/>
            <a:ext cx="44862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F1F5F9"/>
                </a:solidFill>
                <a:latin typeface="Inter"/>
              </a:rPr>
              <a:t>Multi-Factor Risk Validation: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Verification against noise &amp; negation.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9425" y="4709814"/>
            <a:ext cx="44862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F1F5F9"/>
                </a:solidFill>
                <a:latin typeface="Inter"/>
              </a:rPr>
              <a:t>Quantitative Scoring: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Dynamic composite risk scoring model.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025" y="485775"/>
            <a:ext cx="11581447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lus Jakarta Sans"/>
              </a:rPr>
              <a:t>The Problem &amp; Our Solution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875" y="2632174"/>
            <a:ext cx="104775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875" y="3283446"/>
            <a:ext cx="104775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875" y="3934717"/>
            <a:ext cx="104775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875" y="4585989"/>
            <a:ext cx="104775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2725" y="3034010"/>
            <a:ext cx="114300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2725" y="3685282"/>
            <a:ext cx="114300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2725" y="4077592"/>
            <a:ext cx="114300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2725" y="4728864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101405"/>
            <a:ext cx="11029950" cy="113913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6343650"/>
            <a:ext cx="11029950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3025" y="2939355"/>
            <a:ext cx="9505950" cy="19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5675" y="558105"/>
            <a:ext cx="1257300" cy="2437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6467475"/>
            <a:ext cx="657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RiskPulse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9025" y="6467475"/>
            <a:ext cx="361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396680"/>
            <a:ext cx="104394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E2E8F0"/>
                </a:solidFill>
                <a:latin typeface="Inter"/>
              </a:rPr>
              <a:t>Transforms unstructured news into </a:t>
            </a:r>
            <a:r>
              <a:rPr b="1" sz="1350" i="0" u="none">
                <a:solidFill>
                  <a:srgbClr val="F1F5F9"/>
                </a:solidFill>
                <a:latin typeface="Inter"/>
              </a:rPr>
              <a:t>validated risk events</a:t>
            </a:r>
            <a:r>
              <a:rPr b="0" sz="1350" i="0" u="none">
                <a:solidFill>
                  <a:srgbClr val="E2E8F0"/>
                </a:solidFill>
                <a:latin typeface="Inter"/>
              </a:rPr>
              <a:t> and </a:t>
            </a:r>
            <a:r>
              <a:rPr b="1" sz="1350" i="0" u="none">
                <a:solidFill>
                  <a:srgbClr val="F1F5F9"/>
                </a:solidFill>
                <a:latin typeface="Inter"/>
              </a:rPr>
              <a:t>actionable credit intelligence</a:t>
            </a:r>
            <a:r>
              <a:rPr b="0" sz="1350" i="0" u="none">
                <a:solidFill>
                  <a:srgbClr val="E2E8F0"/>
                </a:solidFill>
                <a:latin typeface="Inter"/>
              </a:rPr>
              <a:t> — fully automated from input to decision support.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5" y="2577405"/>
            <a:ext cx="723900" cy="723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0100" y="3434655"/>
            <a:ext cx="1276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F1F5F9"/>
                </a:solidFill>
                <a:latin typeface="Inter SemiBold"/>
              </a:rPr>
              <a:t>1. Company Input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5187" y="2577405"/>
            <a:ext cx="723900" cy="723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052762" y="3434655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F1F5F9"/>
                </a:solidFill>
                <a:latin typeface="Inter SemiBold"/>
              </a:rPr>
              <a:t>2. Entity Resolution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4050" y="2577405"/>
            <a:ext cx="723900" cy="723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10200" y="3434655"/>
            <a:ext cx="1371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F1F5F9"/>
                </a:solidFill>
                <a:latin typeface="Inter SemiBold"/>
              </a:rPr>
              <a:t>3. News Collection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2912" y="2577405"/>
            <a:ext cx="723900" cy="7239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7162" y="3434655"/>
            <a:ext cx="1295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F1F5F9"/>
                </a:solidFill>
                <a:latin typeface="Inter SemiBold"/>
              </a:rPr>
              <a:t>4. Text Extraction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1775" y="2577405"/>
            <a:ext cx="723900" cy="723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082212" y="3434655"/>
            <a:ext cx="13430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F1F5F9"/>
                </a:solidFill>
                <a:latin typeface="Inter SemiBold"/>
              </a:rPr>
              <a:t>5. AI Risk Analysis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0162" y="2815530"/>
            <a:ext cx="276225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29025" y="2815530"/>
            <a:ext cx="276225" cy="247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72175" y="2815530"/>
            <a:ext cx="247650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9612" y="2815530"/>
            <a:ext cx="190500" cy="2476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29900" y="2815530"/>
            <a:ext cx="247650" cy="2476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81025" y="485775"/>
            <a:ext cx="11581447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lus Jakarta Sans"/>
              </a:rPr>
              <a:t>System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63030"/>
            <a:ext cx="11029950" cy="155034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641973"/>
            <a:ext cx="3524250" cy="202733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875" y="3641973"/>
            <a:ext cx="3524250" cy="202733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6725" y="3641973"/>
            <a:ext cx="3524250" cy="202733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6343650"/>
            <a:ext cx="1102995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8575" y="558105"/>
            <a:ext cx="1566862" cy="2437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6467475"/>
            <a:ext cx="657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RiskPulse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500" y="6467475"/>
            <a:ext cx="3714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8250" y="2158305"/>
            <a:ext cx="10581322" cy="251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79"/>
              </a:lnSpc>
            </a:pPr>
            <a:r>
              <a:rPr b="1" sz="1650" i="0" u="none">
                <a:solidFill>
                  <a:srgbClr val="38BDF8"/>
                </a:solidFill>
                <a:latin typeface="Plus Jakarta Sans"/>
              </a:rPr>
              <a:t>The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600176"/>
            <a:ext cx="104394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Companies appear under multiple names, aliases, and scripts across global &amp; local media sources.</a:t>
            </a:r>
            <a:r>
              <a:t>
</a:t>
            </a:r>
            <a:r>
              <a:rPr b="0" sz="1275" i="1" u="none">
                <a:solidFill>
                  <a:srgbClr val="CBD5E1"/>
                </a:solidFill>
                <a:latin typeface="Inter"/>
              </a:rPr>
              <a:t>Example: Telecom Egypt | WE | وي | المصرية للاتصالات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2179141"/>
            <a:ext cx="26670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150" y="3880098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9150" y="4508748"/>
            <a:ext cx="320040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Company Registry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" y="4809678"/>
            <a:ext cx="30480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94A3B8"/>
                </a:solidFill>
                <a:latin typeface="Inter"/>
              </a:rPr>
              <a:t>Official names &amp; comprehensive aliases database ensuring baseline identity mapping.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3880098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0" y="4508748"/>
            <a:ext cx="320040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CAMEL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809678"/>
            <a:ext cx="304800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94A3B8"/>
                </a:solidFill>
                <a:latin typeface="Inter"/>
              </a:rPr>
              <a:t>Normalizes Arabic text, removing diacritics, unifying letter forms, and handling morphology.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24850" y="3880098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24850" y="4508748"/>
            <a:ext cx="320040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RapidFuzz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4850" y="4809678"/>
            <a:ext cx="30480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94A3B8"/>
                </a:solidFill>
                <a:latin typeface="Inter"/>
              </a:rPr>
              <a:t>High-performance fuzzy matching to handle typos, alternate spellings, and transliterations.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2025" y="4013448"/>
            <a:ext cx="171450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91062" y="4013448"/>
            <a:ext cx="219075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58200" y="4013448"/>
            <a:ext cx="190500" cy="1905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81025" y="485775"/>
            <a:ext cx="11581447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lus Jakarta Sans"/>
              </a:rPr>
              <a:t>Company Identification &amp; Arabic Processing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553842"/>
            <a:ext cx="11029950" cy="8495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128837"/>
            <a:ext cx="2614612" cy="223450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6137" y="2128837"/>
            <a:ext cx="2614612" cy="223450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128837"/>
            <a:ext cx="2614612" cy="223450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6362" y="2128837"/>
            <a:ext cx="2614612" cy="223450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6343650"/>
            <a:ext cx="1102995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850" y="558105"/>
            <a:ext cx="1185862" cy="2437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6467475"/>
            <a:ext cx="657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RiskPulse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9025" y="6467475"/>
            <a:ext cx="361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849117"/>
            <a:ext cx="10439400" cy="258960"/>
          </a:xfrm>
          <a:prstGeom prst="rect">
            <a:avLst/>
          </a:prstGeom>
          <a:noFill/>
        </p:spPr>
        <p:txBody>
          <a:bodyPr wrap="square" lIns="257175" rIns="0" t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b="0" sz="1275" i="0" u="none">
                <a:solidFill>
                  <a:srgbClr val="F1F5F9"/>
                </a:solidFill>
                <a:latin typeface="Inter"/>
              </a:rPr>
              <a:t>Multi-level extraction approach ensures maximum content availability and fault tolerance for AI analysis.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2366962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9150" y="2995612"/>
            <a:ext cx="224528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Google News RSS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3296542"/>
            <a:ext cx="2138362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94A3B8"/>
                </a:solidFill>
                <a:latin typeface="Inter"/>
              </a:rPr>
              <a:t>Targeted queries using risk keywords: </a:t>
            </a:r>
            <a:r>
              <a:rPr b="0" sz="1087" i="1" u="none">
                <a:solidFill>
                  <a:srgbClr val="94A3B8"/>
                </a:solidFill>
                <a:latin typeface="Inter"/>
              </a:rPr>
              <a:t>losses, debt, lawsuits, fines, default, disputes</a:t>
            </a:r>
            <a:r>
              <a:rPr b="0" sz="1087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4262" y="2366962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24262" y="2995612"/>
            <a:ext cx="224528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Requests &amp; Feedparser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4262" y="3296542"/>
            <a:ext cx="2138362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94A3B8"/>
                </a:solidFill>
                <a:latin typeface="Inter"/>
              </a:rPr>
              <a:t>HTTP retrieval for RSS feeds &amp; article links; parses XML structure for meta data.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9375" y="2366962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29375" y="2995612"/>
            <a:ext cx="224528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Trafilatura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3296542"/>
            <a:ext cx="2138362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94A3B8"/>
                </a:solidFill>
                <a:latin typeface="Inter"/>
              </a:rPr>
              <a:t>Primary extraction engine capturing full article body text with high fidelity and speed.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4487" y="2366962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34487" y="2995612"/>
            <a:ext cx="224528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BeautifulSoup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4487" y="3296542"/>
            <a:ext cx="2138362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94A3B8"/>
                </a:solidFill>
                <a:latin typeface="Inter"/>
              </a:rPr>
              <a:t>Fallback HTML parser when main extraction fails; RSS summary used as final backup.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24050" y="4887217"/>
            <a:ext cx="180975" cy="1619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2025" y="2500312"/>
            <a:ext cx="171450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33800" y="2500312"/>
            <a:ext cx="238125" cy="190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2250" y="2500312"/>
            <a:ext cx="171450" cy="190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53550" y="2500312"/>
            <a:ext cx="219075" cy="1905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81025" y="485775"/>
            <a:ext cx="11581447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lus Jakarta Sans"/>
              </a:rPr>
              <a:t>News Collection &amp; Article Extraction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99791"/>
            <a:ext cx="5372100" cy="373275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899791"/>
            <a:ext cx="5372100" cy="373275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4129980"/>
            <a:ext cx="478155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6343650"/>
            <a:ext cx="1102995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5825" y="558105"/>
            <a:ext cx="904875" cy="2437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6467475"/>
            <a:ext cx="657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RiskPulse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9025" y="6467475"/>
            <a:ext cx="361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2195066"/>
            <a:ext cx="4730591" cy="251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79"/>
              </a:lnSpc>
            </a:pPr>
            <a:r>
              <a:rPr b="1" sz="1650" i="0" u="none">
                <a:solidFill>
                  <a:srgbClr val="38BDF8"/>
                </a:solidFill>
                <a:latin typeface="Plus Jakarta Sans"/>
              </a:rPr>
              <a:t>LLM as Senior Credit Auditor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7525" y="2195066"/>
            <a:ext cx="4670583" cy="251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79"/>
              </a:lnSpc>
            </a:pPr>
            <a:r>
              <a:rPr b="1" sz="1650" i="0" u="none">
                <a:solidFill>
                  <a:srgbClr val="38BDF8"/>
                </a:solidFill>
                <a:latin typeface="Plus Jakarta Sans"/>
              </a:rPr>
              <a:t>Intelligent Filtering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2215901"/>
            <a:ext cx="180975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3000" y="2732186"/>
            <a:ext cx="45148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F1F5F9"/>
                </a:solidFill>
                <a:latin typeface="Inter"/>
              </a:rPr>
              <a:t>Detect Risk: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Determine if article signals material credit risk.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383458"/>
            <a:ext cx="45148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F1F5F9"/>
                </a:solidFill>
                <a:latin typeface="Inter"/>
              </a:rPr>
              <a:t>Classify Type: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Label as financial, operational, legal, market, or reputation.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034730"/>
            <a:ext cx="45148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F1F5F9"/>
                </a:solidFill>
                <a:latin typeface="Inter"/>
              </a:rPr>
              <a:t>Gather Evidence: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Extract key facts, metrics, and source credibility.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686002"/>
            <a:ext cx="45148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F1F5F9"/>
                </a:solidFill>
                <a:latin typeface="Inter"/>
              </a:rPr>
              <a:t>Assess Severity: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Rate impact and likelihood on a scale of 1–10.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2215901"/>
            <a:ext cx="238125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34150" y="2636936"/>
            <a:ext cx="9048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4D399"/>
                </a:solidFill>
                <a:latin typeface="Inter"/>
              </a:rPr>
              <a:t>Focuses 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4150" y="2827436"/>
            <a:ext cx="4781550" cy="441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087" i="0" u="none">
                <a:solidFill>
                  <a:srgbClr val="94A3B8"/>
                </a:solidFill>
                <a:latin typeface="Inter"/>
              </a:rPr>
              <a:t>Defaults, Liquidity problems, Debt restructuring, Lawsuits, Fines, Fraud, Shutdowns, Downgrades.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4150" y="3383458"/>
            <a:ext cx="7143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7171"/>
                </a:solidFill>
                <a:latin typeface="Inter"/>
              </a:rPr>
              <a:t>Excludes: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4150" y="3573958"/>
            <a:ext cx="4781550" cy="441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087" i="0" u="none">
                <a:solidFill>
                  <a:srgbClr val="94A3B8"/>
                </a:solidFill>
                <a:latin typeface="Inter"/>
              </a:rPr>
              <a:t>Expansions, Investments, Partnerships, Profit increases (non-risk corporate news).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4244280"/>
            <a:ext cx="95250" cy="12858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1025" y="485775"/>
            <a:ext cx="11581447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lus Jakarta Sans"/>
              </a:rPr>
              <a:t>AI-Powered Risk Analysis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" y="2751236"/>
            <a:ext cx="114300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" y="3402508"/>
            <a:ext cx="114300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" y="4053780"/>
            <a:ext cx="114300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" y="4705052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70733"/>
            <a:ext cx="2084040" cy="24401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7465" y="2770733"/>
            <a:ext cx="2084040" cy="24401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3905" y="2770733"/>
            <a:ext cx="2084040" cy="244018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0345" y="2770733"/>
            <a:ext cx="2084040" cy="244018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6785" y="2770733"/>
            <a:ext cx="2084189" cy="244018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3008858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55590" y="3008858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2030" y="3008858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8470" y="3008858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64910" y="3008858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1025" y="6343650"/>
            <a:ext cx="1102995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81725" y="558105"/>
            <a:ext cx="1747837" cy="2437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2321272"/>
            <a:ext cx="11029950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Every detected risk event is evaluated across 5 key dimensions before qualifying as a validated signal: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6467475"/>
            <a:ext cx="657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RiskPulse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9025" y="6467475"/>
            <a:ext cx="361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3637508"/>
            <a:ext cx="1688179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Source Reliability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" y="3938438"/>
            <a:ext cx="160779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94A3B8"/>
                </a:solidFill>
                <a:latin typeface="Inter"/>
              </a:rPr>
              <a:t>Central Bank / Regulator → Reuters / Bloomberg → Other news sources.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5590" y="3637508"/>
            <a:ext cx="1688179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Entity Confidence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5590" y="3938438"/>
            <a:ext cx="160779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94A3B8"/>
                </a:solidFill>
                <a:latin typeface="Inter"/>
              </a:rPr>
              <a:t>Verifies target company match via official names, aliases &amp; fuzzy scores.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2030" y="3637508"/>
            <a:ext cx="1688179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Recency Factor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2030" y="3938438"/>
            <a:ext cx="160779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94A3B8"/>
                </a:solidFill>
                <a:latin typeface="Inter"/>
              </a:rPr>
              <a:t>Articles within 7 days carry highest weight; older events decay over time.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8470" y="3637508"/>
            <a:ext cx="1688179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Negation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8470" y="4144119"/>
            <a:ext cx="160779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94A3B8"/>
                </a:solidFill>
                <a:latin typeface="Inter"/>
              </a:rPr>
              <a:t>Filters false positives — "denied", "resolved", "found false" are excluded.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4910" y="3637508"/>
            <a:ext cx="1688336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Content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4910" y="3938438"/>
            <a:ext cx="1607939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94A3B8"/>
                </a:solidFill>
                <a:latin typeface="Inter"/>
              </a:rPr>
              <a:t>Richer extracted body text yields higher confidence score in the final event.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1025" y="485775"/>
            <a:ext cx="11581447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lus Jakarta Sans"/>
              </a:rPr>
              <a:t>Risk Validation &amp; Intelligence Layer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86272"/>
            <a:ext cx="11029950" cy="8895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309193"/>
            <a:ext cx="5372100" cy="2327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3309193"/>
            <a:ext cx="5372100" cy="2327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6343650"/>
            <a:ext cx="1102995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2850" y="558105"/>
            <a:ext cx="1676400" cy="2437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6467475"/>
            <a:ext cx="657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RiskPulse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9025" y="6467475"/>
            <a:ext cx="361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286297"/>
            <a:ext cx="10629900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RISK CONTRIBUTION FORMULA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0275" y="2585293"/>
            <a:ext cx="7791301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81100" y="3604468"/>
            <a:ext cx="4700587" cy="251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79"/>
              </a:lnSpc>
            </a:pPr>
            <a:r>
              <a:rPr b="1" sz="1650" i="0" u="none">
                <a:solidFill>
                  <a:srgbClr val="38BDF8"/>
                </a:solidFill>
                <a:latin typeface="Plus Jakarta Sans"/>
              </a:rPr>
              <a:t>Five Risk Categories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0375" y="3604468"/>
            <a:ext cx="4730591" cy="251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79"/>
              </a:lnSpc>
            </a:pPr>
            <a:r>
              <a:rPr b="1" sz="1650" i="0" u="none">
                <a:solidFill>
                  <a:srgbClr val="38BDF8"/>
                </a:solidFill>
                <a:latin typeface="Plus Jakarta Sans"/>
              </a:rPr>
              <a:t>Duplicate Removal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150" y="4046339"/>
            <a:ext cx="47815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CBD5E1"/>
                </a:solidFill>
                <a:latin typeface="Inter"/>
              </a:rPr>
              <a:t>RapidFuzz compares incoming article titles across feeds.</a:t>
            </a:r>
            <a:r>
              <a:t>
</a:t>
            </a:r>
            <a:r>
              <a:t>
</a:t>
            </a:r>
            <a:r>
              <a:rPr b="1" sz="1125" i="0" u="none">
                <a:solidFill>
                  <a:srgbClr val="F1F5F9"/>
                </a:solidFill>
                <a:latin typeface="Inter"/>
              </a:rPr>
              <a:t>Key Benefit:</a:t>
            </a:r>
            <a:r>
              <a:rPr b="0" sz="1125" i="0" u="none">
                <a:solidFill>
                  <a:srgbClr val="CBD5E1"/>
                </a:solidFill>
                <a:latin typeface="Inter"/>
              </a:rPr>
              <a:t> The same risk event reported across multiple media outlets counts only once, preventing artificial inflation of risk scores.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3625304"/>
            <a:ext cx="209550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2500" y="4047291"/>
            <a:ext cx="1143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94A3B8"/>
                </a:solidFill>
                <a:latin typeface="Inter"/>
              </a:rPr>
              <a:t>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800" y="4046339"/>
            <a:ext cx="4591050" cy="25896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F1F5F9"/>
                </a:solidFill>
                <a:latin typeface="Inter"/>
              </a:rPr>
              <a:t>Financial &amp; Liquidity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4306252"/>
            <a:ext cx="14287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94A3B8"/>
                </a:solidFill>
                <a:latin typeface="Inter"/>
              </a:rPr>
              <a:t>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4305300"/>
            <a:ext cx="4591050" cy="258960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F1F5F9"/>
                </a:solidFill>
                <a:latin typeface="Inter"/>
              </a:rPr>
              <a:t>Operational &amp; Supply Chain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65213"/>
            <a:ext cx="1524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94A3B8"/>
                </a:solidFill>
                <a:latin typeface="Inter"/>
              </a:rP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6800" y="4564260"/>
            <a:ext cx="4591050" cy="258960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F1F5F9"/>
                </a:solidFill>
                <a:latin typeface="Inter"/>
              </a:rPr>
              <a:t>Legal &amp; Regulatory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" y="4824174"/>
            <a:ext cx="14287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94A3B8"/>
                </a:solidFill>
                <a:latin typeface="Inter"/>
              </a:rPr>
              <a:t>4.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6800" y="4823221"/>
            <a:ext cx="4591050" cy="258960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F1F5F9"/>
                </a:solidFill>
                <a:latin typeface="Inter"/>
              </a:rPr>
              <a:t>Market &amp; Macroeconomic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925" y="5083135"/>
            <a:ext cx="14287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94A3B8"/>
                </a:solidFill>
                <a:latin typeface="Inter"/>
              </a:rPr>
              <a:t>5.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6800" y="5082182"/>
            <a:ext cx="4591050" cy="258960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F1F5F9"/>
                </a:solidFill>
                <a:latin typeface="Inter"/>
              </a:rPr>
              <a:t>Reputation &amp; Emergency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4150" y="3625304"/>
            <a:ext cx="180975" cy="2095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1025" y="485775"/>
            <a:ext cx="11581447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lus Jakarta Sans"/>
              </a:rPr>
              <a:t>Risk Scoring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095601"/>
            <a:ext cx="11029950" cy="151998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154733"/>
            <a:ext cx="3549550" cy="170274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075" y="2154733"/>
            <a:ext cx="3549699" cy="170274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1275" y="2154733"/>
            <a:ext cx="3549550" cy="170274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6343650"/>
            <a:ext cx="1102995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7100" y="558105"/>
            <a:ext cx="1000125" cy="2437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6467475"/>
            <a:ext cx="657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RiskPulse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9025" y="6467475"/>
            <a:ext cx="361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1100" y="4390876"/>
            <a:ext cx="10641330" cy="251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79"/>
              </a:lnSpc>
            </a:pPr>
            <a:r>
              <a:rPr b="1" sz="1650" i="0" u="none">
                <a:solidFill>
                  <a:srgbClr val="38BDF8"/>
                </a:solidFill>
                <a:latin typeface="Plus Jakarta Sans"/>
              </a:rPr>
              <a:t>Key Design Principle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832746"/>
            <a:ext cx="104394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E2E8F0"/>
                </a:solidFill>
                <a:latin typeface="Inter"/>
              </a:rPr>
              <a:t>The system provides </a:t>
            </a:r>
            <a:r>
              <a:rPr b="1" sz="1200" i="0" u="none">
                <a:solidFill>
                  <a:srgbClr val="F1F5F9"/>
                </a:solidFill>
                <a:latin typeface="Inter"/>
              </a:rPr>
              <a:t>decision support</a:t>
            </a:r>
            <a:r>
              <a:rPr b="0" sz="1200" i="0" u="none">
                <a:solidFill>
                  <a:srgbClr val="E2E8F0"/>
                </a:solidFill>
                <a:latin typeface="Inter"/>
              </a:rPr>
              <a:t> — not a replacement for human credit analysts. Normalized non-linear scoring prevents unlimited growth and equips analysts with validated intelligence for faster decisions.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317" y="2392858"/>
            <a:ext cx="3226965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79"/>
              </a:lnSpc>
            </a:pPr>
            <a:r>
              <a:rPr b="1" sz="1650" i="0" u="none">
                <a:solidFill>
                  <a:srgbClr val="34D399"/>
                </a:solidFill>
                <a:latin typeface="Plus Jakarta Sans"/>
              </a:rPr>
              <a:t>Low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2720429"/>
            <a:ext cx="3073300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1" sz="1950" i="0" u="none">
                <a:solidFill>
                  <a:srgbClr val="34D399"/>
                </a:solidFill>
                <a:latin typeface="Inter"/>
              </a:rPr>
              <a:t>0 –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3192809"/>
            <a:ext cx="30733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Normal credit monitoring &amp; standard routine checks.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2364" y="2392858"/>
            <a:ext cx="3227122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79"/>
              </a:lnSpc>
            </a:pPr>
            <a:r>
              <a:rPr b="1" sz="1650" i="0" u="none">
                <a:solidFill>
                  <a:srgbClr val="FBBF24"/>
                </a:solidFill>
                <a:latin typeface="Plus Jakarta Sans"/>
              </a:rPr>
              <a:t>Medium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9200" y="2720429"/>
            <a:ext cx="3073449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1" sz="1950" i="0" u="none">
                <a:solidFill>
                  <a:srgbClr val="FBBF24"/>
                </a:solidFill>
                <a:latin typeface="Inter"/>
              </a:rPr>
              <a:t>16 – 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9200" y="3192809"/>
            <a:ext cx="3073449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Enhanced credit review &amp; secondary analyst check.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2567" y="2392858"/>
            <a:ext cx="3226965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79"/>
              </a:lnSpc>
            </a:pPr>
            <a:r>
              <a:rPr b="1" sz="1650" i="0" u="none">
                <a:solidFill>
                  <a:srgbClr val="F87171"/>
                </a:solidFill>
                <a:latin typeface="Plus Jakarta Sans"/>
              </a:rPr>
              <a:t>High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9400" y="2720429"/>
            <a:ext cx="3073300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1" sz="1950" i="0" u="none">
                <a:solidFill>
                  <a:srgbClr val="F87171"/>
                </a:solidFill>
                <a:latin typeface="Inter"/>
              </a:rPr>
              <a:t>45+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9400" y="3192809"/>
            <a:ext cx="3073300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Immediate escalation &amp; detailed credit review.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4411712"/>
            <a:ext cx="209550" cy="2095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1025" y="485775"/>
            <a:ext cx="11581447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lus Jakarta Sans"/>
              </a:rPr>
              <a:t>Composite Risk Score &amp; Decision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52427"/>
            <a:ext cx="2614612" cy="202733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137" y="2752427"/>
            <a:ext cx="2614612" cy="202733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752427"/>
            <a:ext cx="2614612" cy="202733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362" y="2752427"/>
            <a:ext cx="2614612" cy="202733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6343650"/>
            <a:ext cx="1102995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0" y="558105"/>
            <a:ext cx="1343025" cy="2437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6467475"/>
            <a:ext cx="657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RiskPulse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1875" y="6467475"/>
            <a:ext cx="4191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10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990552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9150" y="3619202"/>
            <a:ext cx="224528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1. Company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3920132"/>
            <a:ext cx="2138362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94A3B8"/>
                </a:solidFill>
                <a:latin typeface="Inter"/>
              </a:rPr>
              <a:t>Displays Target Company Name &amp; Overall Composite Risk Score.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4262" y="2990552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24262" y="3619202"/>
            <a:ext cx="224528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2. Risk 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4262" y="3920132"/>
            <a:ext cx="2138362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94A3B8"/>
                </a:solidFill>
                <a:latin typeface="Inter"/>
              </a:rPr>
              <a:t>Categorized Low / Medium / High with total analyzed articles count.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75" y="2990552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29375" y="3619202"/>
            <a:ext cx="224528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3.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3920132"/>
            <a:ext cx="2138362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94A3B8"/>
                </a:solidFill>
                <a:latin typeface="Inter"/>
              </a:rPr>
              <a:t>Visual breakdown across 5 categories &amp; detailed validated event cards.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4487" y="2990552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234487" y="3619202"/>
            <a:ext cx="224528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4. Credit 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4487" y="3920132"/>
            <a:ext cx="2138362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94A3B8"/>
                </a:solidFill>
                <a:latin typeface="Inter"/>
              </a:rPr>
              <a:t>Clear actionable credit decision recommendation with complete rationale.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6312" y="3123902"/>
            <a:ext cx="142875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57612" y="3123902"/>
            <a:ext cx="190500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48437" y="3123902"/>
            <a:ext cx="219075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67837" y="3123902"/>
            <a:ext cx="190500" cy="190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1025" y="485775"/>
            <a:ext cx="11581447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lus Jakarta Sans"/>
              </a:rPr>
              <a:t>Dashboard &amp; Final Output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31627"/>
            <a:ext cx="3524250" cy="182016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1831627"/>
            <a:ext cx="3524250" cy="182016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1831627"/>
            <a:ext cx="3524250" cy="182016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880395"/>
            <a:ext cx="3524250" cy="182016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3880395"/>
            <a:ext cx="3524250" cy="182016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6725" y="3880395"/>
            <a:ext cx="3524250" cy="182016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6343650"/>
            <a:ext cx="1102995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14725" y="558105"/>
            <a:ext cx="1257300" cy="2437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6467475"/>
            <a:ext cx="657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RiskPulse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20450" y="6467475"/>
            <a:ext cx="3905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11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150" y="2069752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9150" y="2698402"/>
            <a:ext cx="320040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2999333"/>
            <a:ext cx="30480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F1F5F9"/>
                </a:solidFill>
                <a:latin typeface="Inter"/>
              </a:rPr>
              <a:t>Streamlit:</a:t>
            </a:r>
            <a:r>
              <a:rPr b="0" sz="1087" i="0" u="none">
                <a:solidFill>
                  <a:srgbClr val="94A3B8"/>
                </a:solidFill>
                <a:latin typeface="Inter"/>
              </a:rPr>
              <a:t> Interactive web dashboard for credit analysts.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2069752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0" y="2698402"/>
            <a:ext cx="320040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Data Collection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999333"/>
            <a:ext cx="30480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F1F5F9"/>
                </a:solidFill>
                <a:latin typeface="Inter"/>
              </a:rPr>
              <a:t>Google News RSS, Requests, Feedparser:</a:t>
            </a:r>
            <a:r>
              <a:rPr b="0" sz="1087" i="0" u="none">
                <a:solidFill>
                  <a:srgbClr val="94A3B8"/>
                </a:solidFill>
                <a:latin typeface="Inter"/>
              </a:rPr>
              <a:t> Multi-source news retrieval.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24850" y="2069752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24850" y="2698402"/>
            <a:ext cx="320040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Content Extraction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4850" y="2999333"/>
            <a:ext cx="30480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F1F5F9"/>
                </a:solidFill>
                <a:latin typeface="Inter"/>
              </a:rPr>
              <a:t>Trafilatura &amp; BeautifulSoup:</a:t>
            </a:r>
            <a:r>
              <a:rPr b="0" sz="1087" i="0" u="none">
                <a:solidFill>
                  <a:srgbClr val="94A3B8"/>
                </a:solidFill>
                <a:latin typeface="Inter"/>
              </a:rPr>
              <a:t> Layered article text extraction engine.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9150" y="4118520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19150" y="4747170"/>
            <a:ext cx="320040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Entity Resolution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50" y="5048101"/>
            <a:ext cx="30480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F1F5F9"/>
                </a:solidFill>
                <a:latin typeface="Inter"/>
              </a:rPr>
              <a:t>CAMEL Tools, RapidFuzz, Regex:</a:t>
            </a:r>
            <a:r>
              <a:rPr b="0" sz="1087" i="0" u="none">
                <a:solidFill>
                  <a:srgbClr val="94A3B8"/>
                </a:solidFill>
                <a:latin typeface="Inter"/>
              </a:rPr>
              <a:t> Multilingual entity matching &amp; normalization.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0" y="4118520"/>
            <a:ext cx="457200" cy="4572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572000" y="4747170"/>
            <a:ext cx="320040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AI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048101"/>
            <a:ext cx="30480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F1F5F9"/>
                </a:solidFill>
                <a:latin typeface="Inter"/>
              </a:rPr>
              <a:t>Groq API &amp; LLM:</a:t>
            </a:r>
            <a:r>
              <a:rPr b="0" sz="1087" i="0" u="none">
                <a:solidFill>
                  <a:srgbClr val="94A3B8"/>
                </a:solidFill>
                <a:latin typeface="Inter"/>
              </a:rPr>
              <a:t> Contextual credit risk classification and audit.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24850" y="4118520"/>
            <a:ext cx="457200" cy="4572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324850" y="4747170"/>
            <a:ext cx="320040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F8FAFC"/>
                </a:solidFill>
                <a:latin typeface="Plus Jakarta Sans"/>
              </a:rPr>
              <a:t>Data Processing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4850" y="5048101"/>
            <a:ext cx="30480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F1F5F9"/>
                </a:solidFill>
                <a:latin typeface="Inter"/>
              </a:rPr>
              <a:t>Python, NumPy, ThreadPoolExecutor:</a:t>
            </a:r>
            <a:r>
              <a:rPr b="0" sz="1087" i="0" u="none">
                <a:solidFill>
                  <a:srgbClr val="94A3B8"/>
                </a:solidFill>
                <a:latin typeface="Inter"/>
              </a:rPr>
              <a:t> Parallel execution pipeline.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8212" y="2203102"/>
            <a:ext cx="219075" cy="1905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81537" y="2203102"/>
            <a:ext cx="238125" cy="1905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82012" y="2203102"/>
            <a:ext cx="142875" cy="190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2025" y="4251870"/>
            <a:ext cx="171450" cy="1905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05350" y="4251870"/>
            <a:ext cx="190500" cy="1905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34387" y="4251870"/>
            <a:ext cx="238125" cy="1905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81025" y="485775"/>
            <a:ext cx="11581447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lus Jakarta Sans"/>
              </a:rPr>
              <a:t>Technology Stack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